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C1C1A"/>
                </a:solidFill>
              </a:defRPr>
            </a:pPr>
            <a:r>
              <a:t>Synova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6B63"/>
                </a:solidFill>
              </a:defRPr>
            </a:pPr>
            <a:r>
              <a:t>AI 增长诊断系统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3"/>
                </a:solidFill>
              </a:defRPr>
            </a:pPr>
            <a:r>
              <a:t>驻扎在企业内部的数字化管理咨询师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303520"/>
            <a:ext cx="2194560" cy="1097280"/>
          </a:xfrm>
          <a:prstGeom prst="rect">
            <a:avLst/>
          </a:prstGeom>
          <a:solidFill>
            <a:srgbClr val="EEEDE8"/>
          </a:solidFill>
          <a:ln>
            <a:solidFill>
              <a:srgbClr val="D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102k</a:t>
            </a:r>
          </a:p>
          <a:p>
            <a:pPr algn="ctr">
              <a:defRPr sz="1300">
                <a:solidFill>
                  <a:srgbClr val="6B6B63"/>
                </a:solidFill>
              </a:defRPr>
            </a:pPr>
            <a:r>
              <a:t>TypeScript 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5303520"/>
            <a:ext cx="2194560" cy="1097280"/>
          </a:xfrm>
          <a:prstGeom prst="rect">
            <a:avLst/>
          </a:prstGeom>
          <a:solidFill>
            <a:srgbClr val="EEEDE8"/>
          </a:solidFill>
          <a:ln>
            <a:solidFill>
              <a:srgbClr val="D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540</a:t>
            </a:r>
          </a:p>
          <a:p>
            <a:pPr algn="ctr">
              <a:defRPr sz="1300">
                <a:solidFill>
                  <a:srgbClr val="6B6B63"/>
                </a:solidFill>
              </a:defRPr>
            </a:pPr>
            <a:r>
              <a:t>测试文件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5303520"/>
            <a:ext cx="2194560" cy="1097280"/>
          </a:xfrm>
          <a:prstGeom prst="rect">
            <a:avLst/>
          </a:prstGeom>
          <a:solidFill>
            <a:srgbClr val="EEEDE8"/>
          </a:solidFill>
          <a:ln>
            <a:solidFill>
              <a:srgbClr val="D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B8A3E"/>
                </a:solidFill>
              </a:defRPr>
            </a:pPr>
            <a:r>
              <a:t>8</a:t>
            </a:r>
          </a:p>
          <a:p>
            <a:pPr algn="ctr">
              <a:defRPr sz="1300">
                <a:solidFill>
                  <a:srgbClr val="6B6B63"/>
                </a:solidFill>
              </a:defRPr>
            </a:pPr>
            <a:r>
              <a:t>AI 专家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59" y="5303520"/>
            <a:ext cx="2194560" cy="1097280"/>
          </a:xfrm>
          <a:prstGeom prst="rect">
            <a:avLst/>
          </a:prstGeom>
          <a:solidFill>
            <a:srgbClr val="EEEDE8"/>
          </a:solidFill>
          <a:ln>
            <a:solidFill>
              <a:srgbClr val="D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26</a:t>
            </a:r>
          </a:p>
          <a:p>
            <a:pPr algn="ctr">
              <a:defRPr sz="1300">
                <a:solidFill>
                  <a:srgbClr val="6B6B63"/>
                </a:solidFill>
              </a:defRPr>
            </a:pPr>
            <a:r>
              <a:t>哨兵适配器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029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市场机会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中国 5-300 人成长型企业约 200 万家。花不起麦肯锡，也不相信 Excel 能告诉它们为什么有问题。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400" b="1">
                <a:solidFill>
                  <a:srgbClr val="2B8A3E"/>
                </a:solidFill>
              </a:defRPr>
            </a:pPr>
            <a:r>
              <a:t>200 万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可服务企业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400" b="1">
                <a:solidFill>
                  <a:srgbClr val="1C1C1A"/>
                </a:solidFill>
              </a:defRPr>
            </a:pPr>
            <a:r>
              <a:t>¥50 亿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首年 SAM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400" b="1">
                <a:solidFill>
                  <a:srgbClr val="7C3AED"/>
                </a:solidFill>
              </a:defRPr>
            </a:pPr>
            <a:r>
              <a:t>¥300 亿+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成熟期 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57200"/>
            <a:ext cx="5029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解决方案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C1C1A"/>
                </a:solidFill>
              </a:defRPr>
            </a:pPr>
            <a:r>
              <a:t>Synova 不是工具，是一位驻扎在企业内部的 AI 管理咨询师。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发现问题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不是指标跌了，是三个信号指向同一个结构性问题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提出方案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从根因推导到行动，有因果逻辑，不是模板化建议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执行监督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持续跟踪效果，自动对比上次建议 vs 当前现实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500" b="0" i="1">
                <a:solidFill>
                  <a:srgbClr val="D97706"/>
                </a:solidFill>
              </a:defRPr>
            </a:pPr>
            <a:r>
              <a:t>最终决策永远由人做出。Synova 是辅助决策，不是替代决策。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为什么是现在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2563EB"/>
                </a:solidFill>
              </a:defRPr>
            </a:pPr>
            <a:r>
              <a:t>企业数字化    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Excel + 微信管业务 -&gt; 飞书/钉钉覆盖 80% 成长型企业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B8A3E"/>
                </a:solidFill>
              </a:defRPr>
            </a:pPr>
            <a:r>
              <a:t>影响: 数据前提成熟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2563EB"/>
                </a:solidFill>
              </a:defRPr>
            </a:pPr>
            <a:r>
              <a:t>AI 推理能力    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GPT-4 前做不了结构化输出 -&gt; DeepSeek V4 能可靠输出结构化 JSON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B8A3E"/>
                </a:solidFill>
              </a:defRPr>
            </a:pPr>
            <a:r>
              <a:t>影响: 诊断管线可依赖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2563EB"/>
                </a:solidFill>
              </a:defRPr>
            </a:pPr>
            <a:r>
              <a:t>AI 成本    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一次推理 &gt; 10 元 -&gt; 一次诊断推理 1-3 元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B8A3E"/>
                </a:solidFill>
              </a:defRPr>
            </a:pPr>
            <a:r>
              <a:t>影响: 单位经济成立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D97706"/>
                </a:solidFill>
              </a:defRPr>
            </a:pPr>
            <a:r>
              <a:t>竞争壁垒：GA 网络效应 + SOG 本体论 + 102k 行工程代码。不是 AI 套壳。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五层架构闭环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L1 交互层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三栏界面 · 76 API · MCP · GA/对接人/老板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B6B63"/>
                </a:solidFill>
              </a:defRPr>
            </a:pPr>
            <a:r>
              <a:t>↓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L2 编排层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ConversationEngine · 工作区 · 上下文压缩 · 企业事实层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B6B63"/>
                </a:solidFill>
              </a:defRPr>
            </a:pPr>
            <a:r>
              <a:t>↓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L3 洞察层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26 哨兵 × 7 维度 + 8 专家并行推理 + 证据池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B6B63"/>
                </a:solidFill>
              </a:defRPr>
            </a:pPr>
            <a:r>
              <a:t>↓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L4 本体层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SOG 组织数字孪生 · 17 节点 · 14 边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B6B63"/>
                </a:solidFill>
              </a:defRPr>
            </a:pPr>
            <a:r>
              <a:t>↓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L5 数据层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SQLite · AgentMemoryStore · 飞书/财务/CRM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B6B63"/>
                </a:solidFill>
              </a:defRPr>
            </a:pPr>
            <a:r>
              <a:t>↓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2B8A3E"/>
                </a:solidFill>
              </a:defRPr>
            </a:pPr>
            <a:r>
              <a:t>反馈闭环：方案执行 -&gt; 新数据 -&gt; 再次诊断 -&gt; 对比效果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8 位 AI 专家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7 位前台推理 + 1 位后台知识引擎。每位专家 9 个独立配置文件。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C1C1A"/>
                </a:solidFill>
              </a:defRPr>
            </a:pPr>
            <a:r>
              <a:t>战略顾问: 7 Powers + 投融资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组织顾问: Bus Factor + 代理理论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C1C1A"/>
                </a:solidFill>
              </a:defRPr>
            </a:pPr>
            <a:r>
              <a:t>财务顾问: 现金流 + 单位经济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营销顾问: AARRR + 行为经济学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C1C1A"/>
                </a:solidFill>
              </a:defRPr>
            </a:pPr>
            <a:r>
              <a:t>技术顾问: 技术债 + 信息经济学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商业模式: Canvas + 交易成本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C1C1A"/>
                </a:solidFill>
              </a:defRPr>
            </a:pPr>
            <a:r>
              <a:t>行动顾问: 优先级排序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知识顾问: 后台引擎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交互设计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左栏: 工作区列表 | 中栏: 对话区（结构化判断）| 右栏: 行动跟踪 | 老板信箱: 每周邮件+飞书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商业模式 B2B2B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B8A3E"/>
                </a:solidFill>
              </a:defRPr>
            </a:pPr>
            <a:r>
              <a:t>Synova -&gt; GA（增长顾问）-&gt; 企业客户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入门版: ¥12,000/年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专业版: ¥48,000/年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企业版: ¥25,000/年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私有化: ¥80,000/年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B8A3E"/>
                </a:solidFill>
              </a:defRPr>
            </a:pPr>
            <a:r>
              <a:t>100 位 GA = ¥480 万/年 · 1,000 位 GA = ¥4,800 万/年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每次诊断推理成本 ¥1-3。预计毛利率 ~70%。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工程现状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B6B63"/>
                </a:solidFill>
              </a:defRPr>
            </a:pPr>
            <a:r>
              <a:t>102,000+ 行 TypeScript · 540 测试文件 · 76 API 端点 · 11 monorepo 包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工程质量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46 条铁律 · 5 项物理阻断：as any = 0、空 catch 审计、secrets 扫描。提交 &lt; 5s。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五层架构边界：pre-commit check-architecture.sh 物理阻断跨层调用。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自我进化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2 路反馈回路。GA 纠正 + 客户反馈。执行效果数据为最高仲裁者。分歧记录自动重新验证。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数据安全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L0-L2 脱敏。GA 默认不可见原始数据。本地部署。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C1A"/>
                </a:solidFill>
              </a:defRPr>
            </a:pPr>
            <a:r>
              <a:t>路线图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验证 2026 Q2-Q3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2-3 种子客户。验证 GA 模式。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启动 2026 Q3-Q4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15 付费客户。5 位外部 GA。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扩展 2026 Q4-2027 Q1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50+ 客户。20+ GA。5 行业模板。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563EB"/>
                </a:solidFill>
              </a:defRPr>
            </a:pPr>
            <a:r>
              <a:t>规模化 2027 Q1-Q2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B6B63"/>
                </a:solidFill>
              </a:defRPr>
            </a:pPr>
            <a:r>
              <a:t>100+ GA。500+ 客户。¥480 万+ 收入。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1C1C1A"/>
                </a:solidFill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团队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C1C1A"/>
                </a:solidFill>
              </a:defRPr>
            </a:pPr>
            <a:r>
              <a:t>黄学松（创始人）+ Claude Code + Codex（AI 工程师）。正在招募首位全职工程师。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C1C1A"/>
                </a:solidFill>
              </a:defRPr>
            </a:pPr>
            <a:r>
              <a:t>Synova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6B6B63"/>
                </a:solidFill>
              </a:defRPr>
            </a:pPr>
            <a:r>
              <a:t>诊断是手段，增长才是目的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6B6B63"/>
                </a:solidFill>
              </a:defRPr>
            </a:pPr>
            <a:r>
              <a:t>docs/plans/codex/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